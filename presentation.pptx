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Faiaz (about 50 seconds).
Say: what the festival is, why Valencia, what the website is for, and the main decisions since Seminar 1.
Key points: 3 days, 25-27 June 2027. Sea by day, club by night. We renamed after finding the real festival RAICES. Our reason for Valencia: clean, modern city with sea access, so outdoor dancing by the sea and indoor dancing at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Oscar (about 40 seconds).
Say: four groups, each with a need and what the site gives them. Link each group to a function: beginners get level filters and the quiz; travelling dancers get the Night filter; fans get search; visitors with access needs get the Accessibility page and venue access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Oscar (about 50 seconds).
Say: home page, six main sections in the navigation, detail pages for sessions, performers and venues, six practical pages, search on every page with a results page. Mention breadcrumbs, and that detail pages are one template filled from the data (no build step).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Sebastian (about 50 seconds).
Say: the two key scenarios we will use for prototyping and validation. Each has a user type, goal, start and expected result. We checked that the data supports them: scenario 1 has four Saturday beginner follow or both workshops, two of which do not overlap; scenario 2 has four Friday club sets with a DJ and an end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Faiaz (about 55 seconds).
Say: AI drafted and generated, we decided. The proof is the script output, not 'AI said it is fine'. Real error to mention: 9 validator errors on the first run, all from sets that start after midnight; we fixed the schema, not just the data. Also: we found RAICES by searching the name and renamed. Limits: bios, images, review still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Latino Mar Bachata Festival · Seminar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6E7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Latino Mar Bachata Festival · Seminar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A5A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6E7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Latino Mar Bachata Festival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6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edition · Valencia, Spain · 25–27 June 2027 · Sea by day, club by night</a:t>
            </a:r>
            <a:endParaRPr lang="en-US" sz="2200" dirty="0"/>
          </a:p>
        </p:txBody>
      </p:sp>
      <p:sp>
        <p:nvSpPr>
          <p:cNvPr id="4" name="Card 1"/>
          <p:cNvSpPr/>
          <p:nvPr/>
        </p:nvSpPr>
        <p:spPr>
          <a:xfrm>
            <a:off x="548640" y="214884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12324A"/>
          </a:solidFill>
          <a:ln/>
        </p:spPr>
      </p:sp>
      <p:sp>
        <p:nvSpPr>
          <p:cNvPr id="5" name="Card heading 1"/>
          <p:cNvSpPr txBox="1"/>
          <p:nvPr/>
        </p:nvSpPr>
        <p:spPr>
          <a:xfrm>
            <a:off x="82296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festival</a:t>
            </a:r>
            <a:endParaRPr lang="en-US" sz="2200" dirty="0"/>
          </a:p>
        </p:txBody>
      </p:sp>
      <p:sp>
        <p:nvSpPr>
          <p:cNvPr id="6" name="Card text 1"/>
          <p:cNvSpPr txBox="1"/>
          <p:nvPr/>
        </p:nvSpPr>
        <p:spPr>
          <a:xfrm>
            <a:off x="822960" y="292608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days of bachata in Valencia. Bachata dominicana, sensual and moderna, plus salsa. Workshops and sand socials by day, club nights and shows after dark. Beginners welcome.</a:t>
            </a:r>
            <a:endParaRPr lang="en-US" sz="1800" dirty="0"/>
          </a:p>
        </p:txBody>
      </p:sp>
      <p:sp>
        <p:nvSpPr>
          <p:cNvPr id="7" name="Card 2"/>
          <p:cNvSpPr/>
          <p:nvPr/>
        </p:nvSpPr>
        <p:spPr>
          <a:xfrm>
            <a:off x="4297680" y="214884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12324A"/>
          </a:solidFill>
          <a:ln/>
        </p:spPr>
      </p:sp>
      <p:sp>
        <p:nvSpPr>
          <p:cNvPr id="8" name="Card heading 2"/>
          <p:cNvSpPr txBox="1"/>
          <p:nvPr/>
        </p:nvSpPr>
        <p:spPr>
          <a:xfrm>
            <a:off x="457200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website</a:t>
            </a:r>
            <a:endParaRPr lang="en-US" sz="2200" dirty="0"/>
          </a:p>
        </p:txBody>
      </p:sp>
      <p:sp>
        <p:nvSpPr>
          <p:cNvPr id="9" name="Card text 2"/>
          <p:cNvSpPr txBox="1"/>
          <p:nvPr/>
        </p:nvSpPr>
        <p:spPr>
          <a:xfrm>
            <a:off x="4572000" y="292608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three days in minutes: filter the programme, find any artist or venue, save sessions to My Programme without clashes, and find tickets, travel and access facts.</a:t>
            </a:r>
            <a:endParaRPr lang="en-US" sz="1800" dirty="0"/>
          </a:p>
        </p:txBody>
      </p:sp>
      <p:sp>
        <p:nvSpPr>
          <p:cNvPr id="10" name="Card 3"/>
          <p:cNvSpPr/>
          <p:nvPr/>
        </p:nvSpPr>
        <p:spPr>
          <a:xfrm>
            <a:off x="8046720" y="214884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12324A"/>
          </a:solidFill>
          <a:ln/>
        </p:spPr>
      </p:sp>
      <p:sp>
        <p:nvSpPr>
          <p:cNvPr id="11" name="Card heading 3"/>
          <p:cNvSpPr txBox="1"/>
          <p:nvPr/>
        </p:nvSpPr>
        <p:spPr>
          <a:xfrm>
            <a:off x="832104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decisions</a:t>
            </a:r>
            <a:endParaRPr lang="en-US" sz="2200" dirty="0"/>
          </a:p>
        </p:txBody>
      </p:sp>
      <p:sp>
        <p:nvSpPr>
          <p:cNvPr id="12" name="Card text 3"/>
          <p:cNvSpPr txBox="1"/>
          <p:nvPr/>
        </p:nvSpPr>
        <p:spPr>
          <a:xfrm>
            <a:off x="8321040" y="292608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the festival after a real one, RAICES, used the same word. Cut to 3 days. Added a Roots page on bachata dominicana. Dropped volunteers, partners and talks.</a:t>
            </a:r>
            <a:endParaRPr lang="en-US" sz="1800" dirty="0"/>
          </a:p>
        </p:txBody>
      </p:sp>
      <p:sp>
        <p:nvSpPr>
          <p:cNvPr id="13" name="Progress line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6E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Seminar 1: concept locked, specification written, data built (64 performers, 65 programme items) and validated.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6E7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target groups</a:t>
            </a:r>
            <a:endParaRPr lang="en-US" sz="3600" dirty="0"/>
          </a:p>
        </p:txBody>
      </p:sp>
      <p:sp>
        <p:nvSpPr>
          <p:cNvPr id="3" name="Group card 1"/>
          <p:cNvSpPr/>
          <p:nvPr/>
        </p:nvSpPr>
        <p:spPr>
          <a:xfrm>
            <a:off x="548640" y="146304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AF4F5"/>
          </a:solidFill>
          <a:ln/>
        </p:spPr>
      </p:sp>
      <p:sp>
        <p:nvSpPr>
          <p:cNvPr id="4" name="Number badge 1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91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First-time and beginner dancers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pPr indent="0" marL="0">
              <a:buNone/>
            </a:pPr>
            <a:r>
              <a:rPr lang="en-US" sz="16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workshop suits my level, and a welcoming start.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site: </a:t>
            </a:r>
            <a:pPr indent="0" marL="0">
              <a:buNone/>
            </a:pPr>
            <a:r>
              <a:rPr lang="en-US" sz="16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and role filters, a “Which level am I?” quiz, code of conduct.</a:t>
            </a:r>
            <a:endParaRPr lang="en-US" sz="1600" dirty="0"/>
          </a:p>
        </p:txBody>
      </p:sp>
      <p:sp>
        <p:nvSpPr>
          <p:cNvPr id="8" name="Group card 2"/>
          <p:cNvSpPr/>
          <p:nvPr/>
        </p:nvSpPr>
        <p:spPr>
          <a:xfrm>
            <a:off x="6263640" y="146304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AF4F5"/>
          </a:solidFill>
          <a:ln/>
        </p:spPr>
      </p:sp>
      <p:sp>
        <p:nvSpPr>
          <p:cNvPr id="9" name="Number badge 2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691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Experienced social dancers from abroad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pPr indent="0" marL="0">
              <a:buNone/>
            </a:pPr>
            <a:r>
              <a:rPr lang="en-US" sz="16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plays tonight, when it ends, where to stay.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site: </a:t>
            </a:r>
            <a:pPr indent="0" marL="0">
              <a:buNone/>
            </a:pPr>
            <a:r>
              <a:rPr lang="en-US" sz="16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filter, DJ and band pages, travel, accommodation, tickets.</a:t>
            </a:r>
            <a:endParaRPr lang="en-US" sz="1600" dirty="0"/>
          </a:p>
        </p:txBody>
      </p:sp>
      <p:sp>
        <p:nvSpPr>
          <p:cNvPr id="13" name="Group card 3"/>
          <p:cNvSpPr/>
          <p:nvPr/>
        </p:nvSpPr>
        <p:spPr>
          <a:xfrm>
            <a:off x="548640" y="393192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AF4F5"/>
          </a:solidFill>
          <a:ln/>
        </p:spPr>
      </p:sp>
      <p:sp>
        <p:nvSpPr>
          <p:cNvPr id="14" name="Number badge 3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visitors and artist fans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92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pPr indent="0" marL="0">
              <a:buNone/>
            </a:pPr>
            <a:r>
              <a:rPr lang="en-US" sz="16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instructor and see every session.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site: </a:t>
            </a:r>
            <a:pPr indent="0" marL="0">
              <a:buNone/>
            </a:pPr>
            <a:r>
              <a:rPr lang="en-US" sz="16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 a results page, performer pages listing all sessions.</a:t>
            </a:r>
            <a:endParaRPr lang="en-US" sz="1600" dirty="0"/>
          </a:p>
        </p:txBody>
      </p:sp>
      <p:sp>
        <p:nvSpPr>
          <p:cNvPr id="18" name="Group card 4"/>
          <p:cNvSpPr/>
          <p:nvPr/>
        </p:nvSpPr>
        <p:spPr>
          <a:xfrm>
            <a:off x="6263640" y="393192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AF4F5"/>
          </a:solidFill>
          <a:ln/>
        </p:spPr>
      </p:sp>
      <p:sp>
        <p:nvSpPr>
          <p:cNvPr id="19" name="Number badge 4"/>
          <p:cNvSpPr/>
          <p:nvPr/>
        </p:nvSpPr>
        <p:spPr>
          <a:xfrm>
            <a:off x="6492240" y="416052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Visitors with access needs, and groups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892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pPr indent="0" marL="0">
              <a:buNone/>
            </a:pPr>
            <a:r>
              <a:rPr lang="en-US" sz="16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access facts and conduct rules before booking.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site: </a:t>
            </a:r>
            <a:pPr indent="0" marL="0">
              <a:buNone/>
            </a:pPr>
            <a:r>
              <a:rPr lang="en-US" sz="16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page, venue pages, FAQ, group tickets.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A5A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architecture: 17 pages</a:t>
            </a:r>
            <a:endParaRPr lang="en-US" sz="3600" dirty="0"/>
          </a:p>
        </p:txBody>
      </p:sp>
      <p:sp>
        <p:nvSpPr>
          <p:cNvPr id="3" name="Box Home"/>
          <p:cNvSpPr/>
          <p:nvPr/>
        </p:nvSpPr>
        <p:spPr>
          <a:xfrm>
            <a:off x="5184648" y="1371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B1B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84648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500" dirty="0"/>
          </a:p>
        </p:txBody>
      </p:sp>
      <p:sp>
        <p:nvSpPr>
          <p:cNvPr id="5" name="Box Search results"/>
          <p:cNvSpPr/>
          <p:nvPr/>
        </p:nvSpPr>
        <p:spPr>
          <a:xfrm>
            <a:off x="9235440" y="1371600"/>
            <a:ext cx="2423160" cy="548640"/>
          </a:xfrm>
          <a:prstGeom prst="roundRect">
            <a:avLst>
              <a:gd name="adj" fmla="val 13333"/>
            </a:avLst>
          </a:prstGeom>
          <a:solidFill>
            <a:srgbClr val="F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field in every header</a:t>
            </a:r>
            <a:endParaRPr lang="en-US" sz="1200" dirty="0"/>
          </a:p>
        </p:txBody>
      </p:sp>
      <p:sp>
        <p:nvSpPr>
          <p:cNvPr id="8" name="Link"/>
          <p:cNvSpPr/>
          <p:nvPr/>
        </p:nvSpPr>
        <p:spPr>
          <a:xfrm>
            <a:off x="6096305" y="1920240"/>
            <a:ext cx="0" cy="320040"/>
          </a:xfrm>
          <a:prstGeom prst="line">
            <a:avLst/>
          </a:prstGeom>
          <a:noFill/>
          <a:ln w="19050">
            <a:solidFill>
              <a:srgbClr val="4A5A66"/>
            </a:solidFill>
            <a:prstDash val="solid"/>
          </a:ln>
        </p:spPr>
      </p:sp>
      <p:sp>
        <p:nvSpPr>
          <p:cNvPr id="9" name="Link"/>
          <p:cNvSpPr/>
          <p:nvPr/>
        </p:nvSpPr>
        <p:spPr>
          <a:xfrm>
            <a:off x="1409548" y="2240280"/>
            <a:ext cx="9372600" cy="0"/>
          </a:xfrm>
          <a:prstGeom prst="line">
            <a:avLst/>
          </a:prstGeom>
          <a:noFill/>
          <a:ln w="19050">
            <a:solidFill>
              <a:srgbClr val="4A5A66"/>
            </a:solidFill>
            <a:prstDash val="solid"/>
          </a:ln>
        </p:spPr>
      </p:sp>
      <p:sp>
        <p:nvSpPr>
          <p:cNvPr id="10" name="Link"/>
          <p:cNvSpPr/>
          <p:nvPr/>
        </p:nvSpPr>
        <p:spPr>
          <a:xfrm>
            <a:off x="1409548" y="2240280"/>
            <a:ext cx="0" cy="274320"/>
          </a:xfrm>
          <a:prstGeom prst="line">
            <a:avLst/>
          </a:prstGeom>
          <a:noFill/>
          <a:ln w="19050">
            <a:solidFill>
              <a:srgbClr val="4A5A66"/>
            </a:solidFill>
            <a:prstDash val="solid"/>
          </a:ln>
        </p:spPr>
      </p:sp>
      <p:sp>
        <p:nvSpPr>
          <p:cNvPr id="11" name="Box Programme"/>
          <p:cNvSpPr/>
          <p:nvPr/>
        </p:nvSpPr>
        <p:spPr>
          <a:xfrm>
            <a:off x="563728" y="25146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3728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500" dirty="0"/>
          </a:p>
        </p:txBody>
      </p:sp>
      <p:sp>
        <p:nvSpPr>
          <p:cNvPr id="13" name="Link"/>
          <p:cNvSpPr/>
          <p:nvPr/>
        </p:nvSpPr>
        <p:spPr>
          <a:xfrm>
            <a:off x="3284068" y="2240280"/>
            <a:ext cx="0" cy="274320"/>
          </a:xfrm>
          <a:prstGeom prst="line">
            <a:avLst/>
          </a:prstGeom>
          <a:noFill/>
          <a:ln w="19050">
            <a:solidFill>
              <a:srgbClr val="4A5A66"/>
            </a:solidFill>
            <a:prstDash val="solid"/>
          </a:ln>
        </p:spPr>
      </p:sp>
      <p:sp>
        <p:nvSpPr>
          <p:cNvPr id="14" name="Box Performers"/>
          <p:cNvSpPr/>
          <p:nvPr/>
        </p:nvSpPr>
        <p:spPr>
          <a:xfrm>
            <a:off x="2438248" y="25146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38248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Performers</a:t>
            </a:r>
            <a:endParaRPr lang="en-US" sz="1500" dirty="0"/>
          </a:p>
        </p:txBody>
      </p:sp>
      <p:sp>
        <p:nvSpPr>
          <p:cNvPr id="16" name="Link"/>
          <p:cNvSpPr/>
          <p:nvPr/>
        </p:nvSpPr>
        <p:spPr>
          <a:xfrm>
            <a:off x="5158588" y="2240280"/>
            <a:ext cx="0" cy="274320"/>
          </a:xfrm>
          <a:prstGeom prst="line">
            <a:avLst/>
          </a:prstGeom>
          <a:noFill/>
          <a:ln w="19050">
            <a:solidFill>
              <a:srgbClr val="4A5A66"/>
            </a:solidFill>
            <a:prstDash val="solid"/>
          </a:ln>
        </p:spPr>
      </p:sp>
      <p:sp>
        <p:nvSpPr>
          <p:cNvPr id="17" name="Box Venues"/>
          <p:cNvSpPr/>
          <p:nvPr/>
        </p:nvSpPr>
        <p:spPr>
          <a:xfrm>
            <a:off x="4312768" y="25146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12768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1500" dirty="0"/>
          </a:p>
        </p:txBody>
      </p:sp>
      <p:sp>
        <p:nvSpPr>
          <p:cNvPr id="19" name="Link"/>
          <p:cNvSpPr/>
          <p:nvPr/>
        </p:nvSpPr>
        <p:spPr>
          <a:xfrm>
            <a:off x="7033108" y="2240280"/>
            <a:ext cx="0" cy="274320"/>
          </a:xfrm>
          <a:prstGeom prst="line">
            <a:avLst/>
          </a:prstGeom>
          <a:noFill/>
          <a:ln w="19050">
            <a:solidFill>
              <a:srgbClr val="4A5A66"/>
            </a:solidFill>
            <a:prstDash val="solid"/>
          </a:ln>
        </p:spPr>
      </p:sp>
      <p:sp>
        <p:nvSpPr>
          <p:cNvPr id="20" name="Box Roots"/>
          <p:cNvSpPr/>
          <p:nvPr/>
        </p:nvSpPr>
        <p:spPr>
          <a:xfrm>
            <a:off x="6187288" y="25146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87288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</a:t>
            </a:r>
            <a:endParaRPr lang="en-US" sz="1500" dirty="0"/>
          </a:p>
        </p:txBody>
      </p:sp>
      <p:sp>
        <p:nvSpPr>
          <p:cNvPr id="22" name="Link"/>
          <p:cNvSpPr/>
          <p:nvPr/>
        </p:nvSpPr>
        <p:spPr>
          <a:xfrm>
            <a:off x="8907628" y="2240280"/>
            <a:ext cx="0" cy="274320"/>
          </a:xfrm>
          <a:prstGeom prst="line">
            <a:avLst/>
          </a:prstGeom>
          <a:noFill/>
          <a:ln w="19050">
            <a:solidFill>
              <a:srgbClr val="4A5A66"/>
            </a:solidFill>
            <a:prstDash val="solid"/>
          </a:ln>
        </p:spPr>
      </p:sp>
      <p:sp>
        <p:nvSpPr>
          <p:cNvPr id="23" name="Box Practical info"/>
          <p:cNvSpPr/>
          <p:nvPr/>
        </p:nvSpPr>
        <p:spPr>
          <a:xfrm>
            <a:off x="8061808" y="25146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61808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info</a:t>
            </a:r>
            <a:endParaRPr lang="en-US" sz="1500" dirty="0"/>
          </a:p>
        </p:txBody>
      </p:sp>
      <p:sp>
        <p:nvSpPr>
          <p:cNvPr id="25" name="Link"/>
          <p:cNvSpPr/>
          <p:nvPr/>
        </p:nvSpPr>
        <p:spPr>
          <a:xfrm>
            <a:off x="10782148" y="2240280"/>
            <a:ext cx="0" cy="274320"/>
          </a:xfrm>
          <a:prstGeom prst="line">
            <a:avLst/>
          </a:prstGeom>
          <a:noFill/>
          <a:ln w="19050">
            <a:solidFill>
              <a:srgbClr val="4A5A66"/>
            </a:solidFill>
            <a:prstDash val="solid"/>
          </a:ln>
        </p:spPr>
      </p:sp>
      <p:sp>
        <p:nvSpPr>
          <p:cNvPr id="26" name="Box My Programme"/>
          <p:cNvSpPr/>
          <p:nvPr/>
        </p:nvSpPr>
        <p:spPr>
          <a:xfrm>
            <a:off x="9936328" y="25146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936328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Programme</a:t>
            </a:r>
            <a:endParaRPr lang="en-US" sz="1500" dirty="0"/>
          </a:p>
        </p:txBody>
      </p:sp>
      <p:sp>
        <p:nvSpPr>
          <p:cNvPr id="28" name="Link"/>
          <p:cNvSpPr/>
          <p:nvPr/>
        </p:nvSpPr>
        <p:spPr>
          <a:xfrm>
            <a:off x="1409548" y="3154680"/>
            <a:ext cx="0" cy="365760"/>
          </a:xfrm>
          <a:prstGeom prst="line">
            <a:avLst/>
          </a:prstGeom>
          <a:noFill/>
          <a:ln w="19050">
            <a:solidFill>
              <a:srgbClr val="4A5A66"/>
            </a:solidFill>
            <a:prstDash val="solid"/>
          </a:ln>
        </p:spPr>
      </p:sp>
      <p:sp>
        <p:nvSpPr>
          <p:cNvPr id="29" name="Box Programme item detail"/>
          <p:cNvSpPr/>
          <p:nvPr/>
        </p:nvSpPr>
        <p:spPr>
          <a:xfrm>
            <a:off x="563728" y="352044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3728" y="3520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item detail</a:t>
            </a:r>
            <a:endParaRPr lang="en-US" sz="1500" dirty="0"/>
          </a:p>
        </p:txBody>
      </p:sp>
      <p:sp>
        <p:nvSpPr>
          <p:cNvPr id="31" name="Link"/>
          <p:cNvSpPr/>
          <p:nvPr/>
        </p:nvSpPr>
        <p:spPr>
          <a:xfrm>
            <a:off x="3284068" y="3154680"/>
            <a:ext cx="0" cy="365760"/>
          </a:xfrm>
          <a:prstGeom prst="line">
            <a:avLst/>
          </a:prstGeom>
          <a:noFill/>
          <a:ln w="19050">
            <a:solidFill>
              <a:srgbClr val="4A5A66"/>
            </a:solidFill>
            <a:prstDash val="solid"/>
          </a:ln>
        </p:spPr>
      </p:sp>
      <p:sp>
        <p:nvSpPr>
          <p:cNvPr id="32" name="Box Performer detail"/>
          <p:cNvSpPr/>
          <p:nvPr/>
        </p:nvSpPr>
        <p:spPr>
          <a:xfrm>
            <a:off x="2438248" y="352044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438248" y="3520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Performer detail</a:t>
            </a:r>
            <a:endParaRPr lang="en-US" sz="1500" dirty="0"/>
          </a:p>
        </p:txBody>
      </p:sp>
      <p:sp>
        <p:nvSpPr>
          <p:cNvPr id="34" name="Link"/>
          <p:cNvSpPr/>
          <p:nvPr/>
        </p:nvSpPr>
        <p:spPr>
          <a:xfrm>
            <a:off x="5158588" y="3154680"/>
            <a:ext cx="0" cy="365760"/>
          </a:xfrm>
          <a:prstGeom prst="line">
            <a:avLst/>
          </a:prstGeom>
          <a:noFill/>
          <a:ln w="19050">
            <a:solidFill>
              <a:srgbClr val="4A5A66"/>
            </a:solidFill>
            <a:prstDash val="solid"/>
          </a:ln>
        </p:spPr>
      </p:sp>
      <p:sp>
        <p:nvSpPr>
          <p:cNvPr id="35" name="Box Venue detail"/>
          <p:cNvSpPr/>
          <p:nvPr/>
        </p:nvSpPr>
        <p:spPr>
          <a:xfrm>
            <a:off x="4312768" y="352044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12768" y="3520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detail</a:t>
            </a:r>
            <a:endParaRPr lang="en-US" sz="1500" dirty="0"/>
          </a:p>
        </p:txBody>
      </p:sp>
      <p:sp>
        <p:nvSpPr>
          <p:cNvPr id="37" name="Link"/>
          <p:cNvSpPr/>
          <p:nvPr/>
        </p:nvSpPr>
        <p:spPr>
          <a:xfrm>
            <a:off x="8907628" y="3154680"/>
            <a:ext cx="0" cy="365760"/>
          </a:xfrm>
          <a:prstGeom prst="line">
            <a:avLst/>
          </a:prstGeom>
          <a:noFill/>
          <a:ln w="19050">
            <a:solidFill>
              <a:srgbClr val="4A5A66"/>
            </a:solidFill>
            <a:prstDash val="solid"/>
          </a:ln>
        </p:spPr>
      </p:sp>
      <p:sp>
        <p:nvSpPr>
          <p:cNvPr id="38" name="Practical pages"/>
          <p:cNvSpPr/>
          <p:nvPr/>
        </p:nvSpPr>
        <p:spPr>
          <a:xfrm>
            <a:off x="8061808" y="352044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61808" y="352044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of conduct</a:t>
            </a:r>
            <a:endParaRPr lang="en-US" sz="1400" dirty="0"/>
          </a:p>
        </p:txBody>
      </p:sp>
      <p:sp>
        <p:nvSpPr>
          <p:cNvPr id="40" name="Relationships"/>
          <p:cNvSpPr txBox="1"/>
          <p:nvPr/>
        </p:nvSpPr>
        <p:spPr>
          <a:xfrm>
            <a:off x="548640" y="56692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between sections: a session lists its performers and its venue, and each of those pages lists its sessions. Every session has a Save button that feeds My Programme. Breadcrumbs on every inner page.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A5A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key scenarios</a:t>
            </a:r>
            <a:endParaRPr lang="en-US" sz="3600" dirty="0"/>
          </a:p>
        </p:txBody>
      </p:sp>
      <p:sp>
        <p:nvSpPr>
          <p:cNvPr id="3" name="Scenario card 1"/>
          <p:cNvSpPr/>
          <p:nvPr/>
        </p:nvSpPr>
        <p:spPr>
          <a:xfrm>
            <a:off x="548640" y="14173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EAF4F5"/>
          </a:solidFill>
          <a:ln/>
        </p:spPr>
      </p:sp>
      <p:sp>
        <p:nvSpPr>
          <p:cNvPr id="4" name="Scenario header 1"/>
          <p:cNvSpPr/>
          <p:nvPr/>
        </p:nvSpPr>
        <p:spPr>
          <a:xfrm>
            <a:off x="777240" y="1645920"/>
            <a:ext cx="498348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· First-timer, beginner follower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92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7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Saturday beginner workshops with no clash.</a:t>
            </a:r>
            <a:endParaRPr lang="en-US" sz="17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</a:t>
            </a:r>
            <a:pPr indent="0" marL="0">
              <a:buNone/>
            </a:pPr>
            <a:r>
              <a:rPr lang="en-US" sz="17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been to a bachata festival. Arrives on the Home page.</a:t>
            </a:r>
            <a:endParaRPr lang="en-US" sz="17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</a:t>
            </a:r>
            <a:pPr indent="0" marL="0">
              <a:buNone/>
            </a:pPr>
            <a:r>
              <a:rPr lang="en-US" sz="17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→ filter Saturday, Workshop, Beginner, Follow or Both → Save two → My Programme.</a:t>
            </a:r>
            <a:endParaRPr lang="en-US" sz="17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7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sessions saved, no clash warning. Data check: 4 matching workshops, 2 that do not overlap.</a:t>
            </a:r>
            <a:endParaRPr lang="en-US" sz="1700" dirty="0"/>
          </a:p>
        </p:txBody>
      </p:sp>
      <p:sp>
        <p:nvSpPr>
          <p:cNvPr id="7" name="Scenario card 2"/>
          <p:cNvSpPr/>
          <p:nvPr/>
        </p:nvSpPr>
        <p:spPr>
          <a:xfrm>
            <a:off x="6263640" y="14173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EAF4F5"/>
          </a:solidFill>
          <a:ln/>
        </p:spPr>
      </p:sp>
      <p:sp>
        <p:nvSpPr>
          <p:cNvPr id="8" name="Scenario header 2"/>
          <p:cNvSpPr/>
          <p:nvPr/>
        </p:nvSpPr>
        <p:spPr>
          <a:xfrm>
            <a:off x="6492240" y="1645920"/>
            <a:ext cx="498348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645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· Experienced dancer, evening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77440"/>
            <a:ext cx="4892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7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who plays the main social tonight and when it ends.</a:t>
            </a:r>
            <a:endParaRPr lang="en-US" sz="17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</a:t>
            </a:r>
            <a:pPr indent="0" marL="0">
              <a:buNone/>
            </a:pPr>
            <a:r>
              <a:rPr lang="en-US" sz="17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afternoon. Travelled from abroad. On the Programme page.</a:t>
            </a:r>
            <a:endParaRPr lang="en-US" sz="17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</a:t>
            </a:r>
            <a:pPr indent="0" marL="0">
              <a:buNone/>
            </a:pPr>
            <a:r>
              <a:rPr lang="en-US" sz="17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Friday, Social, Night → open the club social → open the DJ page.</a:t>
            </a:r>
            <a:endParaRPr lang="en-US" sz="17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700" dirty="0">
                <a:solidFill>
                  <a:srgbClr val="10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name, end time and set time. Data check: 4 club sets on Friday night, each with a DJ and an end time.</a:t>
            </a:r>
            <a:endParaRPr lang="en-US" sz="1700" dirty="0"/>
          </a:p>
        </p:txBody>
      </p:sp>
      <p:sp>
        <p:nvSpPr>
          <p:cNvPr id="11" name="Third scenario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scenario 3 (not shown today): search an instructor's name, land on their page, see all their workshops.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A5A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used AI and checked it</a:t>
            </a:r>
            <a:endParaRPr lang="en-US" sz="3600" dirty="0"/>
          </a:p>
        </p:txBody>
      </p:sp>
      <p:sp>
        <p:nvSpPr>
          <p:cNvPr id="3" name="Stat 1"/>
          <p:cNvSpPr/>
          <p:nvPr/>
        </p:nvSpPr>
        <p:spPr>
          <a:xfrm>
            <a:off x="548640" y="137160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232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447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the validator found on its first run</a:t>
            </a:r>
            <a:endParaRPr lang="en-US" sz="1500" dirty="0"/>
          </a:p>
        </p:txBody>
      </p:sp>
      <p:sp>
        <p:nvSpPr>
          <p:cNvPr id="6" name="Stat 2"/>
          <p:cNvSpPr/>
          <p:nvPr/>
        </p:nvSpPr>
        <p:spPr>
          <a:xfrm>
            <a:off x="4297680" y="137160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232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4447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286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breakages it caught</a:t>
            </a:r>
            <a:endParaRPr lang="en-US" sz="1500" dirty="0"/>
          </a:p>
        </p:txBody>
      </p:sp>
      <p:sp>
        <p:nvSpPr>
          <p:cNvPr id="9" name="Stat 3"/>
          <p:cNvSpPr/>
          <p:nvPr/>
        </p:nvSpPr>
        <p:spPr>
          <a:xfrm>
            <a:off x="8046720" y="137160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232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4447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286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 the final data</a:t>
            </a:r>
            <a:endParaRPr lang="en-US" sz="1500" dirty="0"/>
          </a:p>
        </p:txBody>
      </p:sp>
      <p:sp>
        <p:nvSpPr>
          <p:cNvPr id="12" name="AI use"/>
          <p:cNvSpPr txBox="1"/>
          <p:nvPr/>
        </p:nvSpPr>
        <p:spPr>
          <a:xfrm>
            <a:off x="548640" y="329184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AI did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the spec and the data schema. Generated 64 performers and 65 programme items. Wrote the validator and converter scripts. Researched names and a reference site.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decided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the concept and the name. We rejected “Raíces del Mar” (real festival RAICES), a 4-day format and three extra features.</a:t>
            </a:r>
            <a:endParaRPr lang="en-US" sz="1700" dirty="0"/>
          </a:p>
        </p:txBody>
      </p:sp>
      <p:sp>
        <p:nvSpPr>
          <p:cNvPr id="13" name="Verification"/>
          <p:cNvSpPr txBox="1"/>
          <p:nvPr/>
        </p:nvSpPr>
        <p:spPr>
          <a:xfrm>
            <a:off x="6263640" y="329184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checked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checks ids, overlaps, double-booked performers, dates and sensible times. Its 9 errors showed our schema had no rule for sets after midnight, so we added a 06:00 to 06:00 programme day. Reading 10 records by hand caught a teacher mismatch the script cannot see.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need a human rewrite, images are not made yet, and two teammates still review the text.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6E7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tino Mar">
  <a:themeElements>
    <a:clrScheme name="Latino Mar">
      <a:dk1>
        <a:srgbClr val="10202E"/>
      </a:dk1>
      <a:lt1>
        <a:srgbClr val="FFFFFF"/>
      </a:lt1>
      <a:dk2>
        <a:srgbClr val="0B1B2B"/>
      </a:dk2>
      <a:lt2>
        <a:srgbClr val="F6E7D0"/>
      </a:lt2>
      <a:accent1>
        <a:srgbClr val="0E7C86"/>
      </a:accent1>
      <a:accent2>
        <a:srgbClr val="FF6B4A"/>
      </a:accent2>
      <a:accent3>
        <a:srgbClr val="12324A"/>
      </a:accent3>
      <a:accent4>
        <a:srgbClr val="F2B84B"/>
      </a:accent4>
      <a:accent5>
        <a:srgbClr val="4A5A66"/>
      </a:accent5>
      <a:accent6>
        <a:srgbClr val="8FD3D6"/>
      </a:accent6>
      <a:hlink>
        <a:srgbClr val="0E7C86"/>
      </a:hlink>
      <a:folHlink>
        <a:srgbClr val="4A5A66"/>
      </a:folHlink>
    </a:clrScheme>
    <a:fontScheme name="Latino M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Latino Mar Bachata Festival - Seminar 2</dc:title>
  <dc:subject>PptxGenJS Presentation</dc:subject>
  <dc:creator>Faiaz Hossain Mazumder Yen, Oscar Muz, Sebastian Betancur</dc:creator>
  <cp:lastModifiedBy>Faiaz Hossain Mazumder Yen, Oscar Muz, Sebastian Betancur</cp:lastModifiedBy>
  <cp:revision>1</cp:revision>
  <dcterms:created xsi:type="dcterms:W3CDTF">2026-10-19T13:47:32Z</dcterms:created>
  <dcterms:modified xsi:type="dcterms:W3CDTF">2026-10-19T13:47:32Z</dcterms:modified>
</cp:coreProperties>
</file>